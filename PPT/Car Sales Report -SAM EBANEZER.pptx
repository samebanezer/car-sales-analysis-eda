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ctive Heart" panose="020B0604020202020204" charset="-12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Inter" panose="020B0604020202020204" charset="0"/>
      <p:regular r:id="rId21"/>
    </p:embeddedFont>
    <p:embeddedFont>
      <p:font typeface="Inter Bold" panose="020B0604020202020204" charset="0"/>
      <p:regular r:id="rId22"/>
    </p:embeddedFont>
    <p:embeddedFont>
      <p:font typeface="Tenor San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994" y="291170"/>
            <a:ext cx="8040826" cy="9356598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25982" y="2694311"/>
            <a:ext cx="6951614" cy="808915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93337" y="995117"/>
            <a:ext cx="6951614" cy="8089151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0846" y="5441861"/>
            <a:ext cx="2464981" cy="2868342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53770" y="620288"/>
            <a:ext cx="1782363" cy="2074023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901431" y="620288"/>
            <a:ext cx="502580" cy="584821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93664" y="2401900"/>
            <a:ext cx="502580" cy="584821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17854" y="9476873"/>
            <a:ext cx="502580" cy="584821"/>
            <a:chOff x="0" y="0"/>
            <a:chExt cx="6985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71947" y="2694311"/>
            <a:ext cx="502580" cy="584821"/>
            <a:chOff x="0" y="0"/>
            <a:chExt cx="6985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-405608" y="1861399"/>
            <a:ext cx="18169167" cy="369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99"/>
              </a:lnSpc>
            </a:pPr>
            <a:r>
              <a:rPr lang="en-US" sz="9999" spc="69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CAR SALES ANALYSIS  EXPLORATORY DATA ANALYSIS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35554" y="5900686"/>
            <a:ext cx="10808452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Subtitle: Business Insights &amp; Recommendations</a:t>
            </a:r>
          </a:p>
          <a:p>
            <a:pPr algn="l">
              <a:lnSpc>
                <a:spcPts val="4200"/>
              </a:lnSpc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Tools Used: Power BI, Excel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Prepared by: Sam Ebanezer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50704" y="4453484"/>
            <a:ext cx="5793296" cy="6741290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852898" y="-1056888"/>
            <a:ext cx="5561163" cy="647117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928204" y="-4904415"/>
            <a:ext cx="6951614" cy="8089151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04135" y="7824129"/>
            <a:ext cx="2464981" cy="2868342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53770" y="620288"/>
            <a:ext cx="1782363" cy="2074023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5043" y="736290"/>
            <a:ext cx="502580" cy="584821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604036" y="4799683"/>
            <a:ext cx="502580" cy="584821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351190" y="9486881"/>
            <a:ext cx="502580" cy="584821"/>
            <a:chOff x="0" y="0"/>
            <a:chExt cx="6985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12403" y="1559624"/>
            <a:ext cx="8018277" cy="1304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</a:pPr>
            <a:r>
              <a:rPr lang="en-US" sz="9000" spc="630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AGENDA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3002" y="3156161"/>
            <a:ext cx="6867678" cy="533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Executive Summary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12403" y="2986721"/>
            <a:ext cx="948444" cy="94844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01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536333" y="3156161"/>
            <a:ext cx="686767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EDA Results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385734" y="2986721"/>
            <a:ext cx="948444" cy="94844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06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763002" y="8953519"/>
            <a:ext cx="686767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Solution Methodology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12403" y="8784078"/>
            <a:ext cx="948444" cy="948444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05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763002" y="4605501"/>
            <a:ext cx="686767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Business Problem Overview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12403" y="4436060"/>
            <a:ext cx="948444" cy="94844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02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536333" y="4605501"/>
            <a:ext cx="686767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Data Preprocessing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385734" y="4436060"/>
            <a:ext cx="948444" cy="94844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07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763002" y="6039834"/>
            <a:ext cx="686767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Solution Approach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612403" y="5885400"/>
            <a:ext cx="948444" cy="948444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03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536333" y="6054840"/>
            <a:ext cx="7318993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Conclusions and Recommendations</a:t>
            </a: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endParaRPr lang="en-US" sz="3000" spc="150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grpSp>
        <p:nvGrpSpPr>
          <p:cNvPr id="52" name="Group 52"/>
          <p:cNvGrpSpPr/>
          <p:nvPr/>
        </p:nvGrpSpPr>
        <p:grpSpPr>
          <a:xfrm>
            <a:off x="9385734" y="5885400"/>
            <a:ext cx="948444" cy="948444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08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763002" y="7504179"/>
            <a:ext cx="686767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Data Dictionary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612403" y="7334739"/>
            <a:ext cx="948444" cy="948444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561C24"/>
                  </a:solidFill>
                  <a:latin typeface="Active Heart"/>
                  <a:ea typeface="Active Heart"/>
                  <a:cs typeface="Active Heart"/>
                  <a:sym typeface="Active Heart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30230" y="1363274"/>
            <a:ext cx="6951614" cy="8089151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6994" y="3549157"/>
            <a:ext cx="5240994" cy="609861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88908" y="4524739"/>
            <a:ext cx="2872597" cy="3342658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65783" y="5143500"/>
            <a:ext cx="1918845" cy="2232838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993142" y="0"/>
            <a:ext cx="4531048" cy="5272492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93142" y="7248502"/>
            <a:ext cx="2777526" cy="3232030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65783" y="144075"/>
            <a:ext cx="11226282" cy="1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49"/>
              </a:lnSpc>
            </a:pPr>
            <a:r>
              <a:rPr lang="en-US" sz="8499" spc="594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EXECUTIVE SUMMARY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1385" y="1540723"/>
            <a:ext cx="12709522" cy="8107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700" u="sng" spc="13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Overview:</a:t>
            </a:r>
          </a:p>
          <a:p>
            <a:pPr algn="l">
              <a:lnSpc>
                <a:spcPts val="4000"/>
              </a:lnSpc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Our startup leverages data-driven analytics to optimize car sales performance, improve revenue generation, and enhance dealer decision-making.</a:t>
            </a:r>
          </a:p>
          <a:p>
            <a:pPr algn="l">
              <a:lnSpc>
                <a:spcPts val="4000"/>
              </a:lnSpc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Key Insights: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Total Revenue exceeds ₹275M, driven mainly by mid-range vehicles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Automatic transmission cars generate higher revenue than manual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SUVs and Sedans dominate customer preference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Sales are concentrated among few top-performing brands and dealers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Male customers contribute ~79% of total revenue</a:t>
            </a:r>
          </a:p>
          <a:p>
            <a:pPr algn="l">
              <a:lnSpc>
                <a:spcPts val="4000"/>
              </a:lnSpc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Key Recommendations: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Focus inventory on high-performing models &amp; body styles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Strengthen partnerships with top dealers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Increase promotions during high-revenue months</a:t>
            </a:r>
          </a:p>
          <a:p>
            <a:pPr marL="539753" lvl="1" indent="-269876" algn="l">
              <a:lnSpc>
                <a:spcPts val="4000"/>
              </a:lnSpc>
              <a:buFont typeface="Arial"/>
              <a:buChar char="•"/>
            </a:pPr>
            <a:r>
              <a:rPr lang="en-US" sz="2500" spc="12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Introduce targeted campaigns for underrepresented customer segments</a:t>
            </a:r>
          </a:p>
          <a:p>
            <a:pPr marL="0" lvl="0" indent="0" algn="l">
              <a:lnSpc>
                <a:spcPts val="4000"/>
              </a:lnSpc>
            </a:pPr>
            <a:endParaRPr lang="en-US" sz="2500" spc="125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63973" y="1168"/>
            <a:ext cx="8986939" cy="10285832"/>
            <a:chOff x="0" y="0"/>
            <a:chExt cx="2366930" cy="2709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6930" cy="2709026"/>
            </a:xfrm>
            <a:custGeom>
              <a:avLst/>
              <a:gdLst/>
              <a:ahLst/>
              <a:cxnLst/>
              <a:rect l="l" t="t" r="r" b="b"/>
              <a:pathLst>
                <a:path w="2366930" h="2709026">
                  <a:moveTo>
                    <a:pt x="0" y="0"/>
                  </a:moveTo>
                  <a:lnTo>
                    <a:pt x="2366930" y="0"/>
                  </a:lnTo>
                  <a:lnTo>
                    <a:pt x="2366930" y="2709026"/>
                  </a:lnTo>
                  <a:lnTo>
                    <a:pt x="0" y="2709026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6930" cy="2747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79411" y="1651886"/>
            <a:ext cx="6951614" cy="808915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4997" y="4566184"/>
            <a:ext cx="5240994" cy="6098611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065494" y="6953331"/>
            <a:ext cx="2413322" cy="2808229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828336" y="8227192"/>
            <a:ext cx="1300961" cy="1513845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82509" y="2087030"/>
            <a:ext cx="1179390" cy="1372381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12403" y="3993387"/>
            <a:ext cx="7604337" cy="314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49"/>
              </a:lnSpc>
            </a:pPr>
            <a:r>
              <a:rPr lang="en-US" sz="8499" spc="594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BUSINESS PROBLEM OVERVIEW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144000" y="103953"/>
            <a:ext cx="8440700" cy="9401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4"/>
              </a:lnSpc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 analytical view to: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Understand sales performance across regions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Identify top-performing brands and models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Analyze customer purchasing behavior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Detect seasonal sales trends</a:t>
            </a:r>
          </a:p>
          <a:p>
            <a:pPr algn="just">
              <a:lnSpc>
                <a:spcPts val="4194"/>
              </a:lnSpc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Business Need: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Data-driven decision making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Improve revenue &amp; customer targeting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Optimize inventory and pricing strategy</a:t>
            </a:r>
          </a:p>
          <a:p>
            <a:pPr algn="just">
              <a:lnSpc>
                <a:spcPts val="4194"/>
              </a:lnSpc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Problem Statement-</a:t>
            </a:r>
          </a:p>
          <a:p>
            <a:pPr algn="just">
              <a:lnSpc>
                <a:spcPts val="4194"/>
              </a:lnSpc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How can car sales businesses use data analytics to: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Maximize revenue?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Identify top-performing products and dealers?</a:t>
            </a:r>
          </a:p>
          <a:p>
            <a:pPr marL="565941" lvl="1" indent="-282970" algn="just">
              <a:lnSpc>
                <a:spcPts val="4194"/>
              </a:lnSpc>
              <a:buFont typeface="Arial"/>
              <a:buChar char="•"/>
            </a:pPr>
            <a:r>
              <a:rPr lang="en-US" sz="2621" spc="131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Understand customer behavior?</a:t>
            </a:r>
          </a:p>
          <a:p>
            <a:pPr marL="0" lvl="0" indent="0" algn="just">
              <a:lnSpc>
                <a:spcPts val="4194"/>
              </a:lnSpc>
            </a:pPr>
            <a:endParaRPr lang="en-US" sz="2621" spc="131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7714159" y="1075415"/>
            <a:ext cx="502580" cy="584821"/>
            <a:chOff x="0" y="0"/>
            <a:chExt cx="6985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49816" y="3790539"/>
            <a:ext cx="1072352" cy="1247827"/>
            <a:chOff x="0" y="0"/>
            <a:chExt cx="6985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84109" y="2525883"/>
            <a:ext cx="6951614" cy="8089151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56885" y="4711766"/>
            <a:ext cx="5240994" cy="609861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5028" y="5687349"/>
            <a:ext cx="2872597" cy="3342658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44936" y="4881462"/>
            <a:ext cx="1918845" cy="2232838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756720" y="168582"/>
            <a:ext cx="502580" cy="584821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45842" y="9030006"/>
            <a:ext cx="502580" cy="584821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63782" y="6821890"/>
            <a:ext cx="502580" cy="584821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815072" y="2138086"/>
            <a:ext cx="5868694" cy="7719590"/>
            <a:chOff x="0" y="0"/>
            <a:chExt cx="1545664" cy="203314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45664" cy="2033143"/>
            </a:xfrm>
            <a:custGeom>
              <a:avLst/>
              <a:gdLst/>
              <a:ahLst/>
              <a:cxnLst/>
              <a:rect l="l" t="t" r="r" b="b"/>
              <a:pathLst>
                <a:path w="1545664" h="2033143">
                  <a:moveTo>
                    <a:pt x="67279" y="0"/>
                  </a:moveTo>
                  <a:lnTo>
                    <a:pt x="1478386" y="0"/>
                  </a:lnTo>
                  <a:cubicBezTo>
                    <a:pt x="1496229" y="0"/>
                    <a:pt x="1513342" y="7088"/>
                    <a:pt x="1525959" y="19705"/>
                  </a:cubicBezTo>
                  <a:cubicBezTo>
                    <a:pt x="1538576" y="32323"/>
                    <a:pt x="1545664" y="49435"/>
                    <a:pt x="1545664" y="67279"/>
                  </a:cubicBezTo>
                  <a:lnTo>
                    <a:pt x="1545664" y="1965865"/>
                  </a:lnTo>
                  <a:cubicBezTo>
                    <a:pt x="1545664" y="1983708"/>
                    <a:pt x="1538576" y="2000821"/>
                    <a:pt x="1525959" y="2013438"/>
                  </a:cubicBezTo>
                  <a:cubicBezTo>
                    <a:pt x="1513342" y="2026055"/>
                    <a:pt x="1496229" y="2033143"/>
                    <a:pt x="1478386" y="2033143"/>
                  </a:cubicBezTo>
                  <a:lnTo>
                    <a:pt x="67279" y="2033143"/>
                  </a:lnTo>
                  <a:cubicBezTo>
                    <a:pt x="49435" y="2033143"/>
                    <a:pt x="32323" y="2026055"/>
                    <a:pt x="19705" y="2013438"/>
                  </a:cubicBezTo>
                  <a:cubicBezTo>
                    <a:pt x="7088" y="2000821"/>
                    <a:pt x="0" y="1983708"/>
                    <a:pt x="0" y="1965865"/>
                  </a:cubicBezTo>
                  <a:lnTo>
                    <a:pt x="0" y="67279"/>
                  </a:lnTo>
                  <a:cubicBezTo>
                    <a:pt x="0" y="49435"/>
                    <a:pt x="7088" y="32323"/>
                    <a:pt x="19705" y="19705"/>
                  </a:cubicBezTo>
                  <a:cubicBezTo>
                    <a:pt x="32323" y="7088"/>
                    <a:pt x="49435" y="0"/>
                    <a:pt x="67279" y="0"/>
                  </a:cubicBezTo>
                  <a:close/>
                </a:path>
              </a:pathLst>
            </a:custGeom>
            <a:solidFill>
              <a:srgbClr val="8E3C47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45664" cy="2071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815072" y="3067890"/>
            <a:ext cx="5750368" cy="5745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Collected historical car sales data</a:t>
            </a:r>
          </a:p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Cleaned and transformed the dataset</a:t>
            </a:r>
          </a:p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Performed Exploratory Data Analysis (EDA)</a:t>
            </a:r>
          </a:p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Built interactive dashboards in Power BI</a:t>
            </a:r>
          </a:p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Extracted business insights and recommendations</a:t>
            </a:r>
          </a:p>
          <a:p>
            <a:pPr marL="0" lvl="0" indent="0" algn="l">
              <a:lnSpc>
                <a:spcPts val="4133"/>
              </a:lnSpc>
            </a:pPr>
            <a:endParaRPr lang="en-US" sz="2583" spc="129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411827" y="315248"/>
            <a:ext cx="8786691" cy="93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50"/>
              </a:lnSpc>
            </a:pPr>
            <a:r>
              <a:rPr lang="en-US" sz="6500" spc="455">
                <a:solidFill>
                  <a:srgbClr val="2F0C11"/>
                </a:solidFill>
                <a:latin typeface="Active Heart"/>
                <a:ea typeface="Active Heart"/>
                <a:cs typeface="Active Heart"/>
                <a:sym typeface="Active Heart"/>
              </a:rPr>
              <a:t>SOLUTION APPROACH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390606" y="2138086"/>
            <a:ext cx="5868694" cy="7719590"/>
            <a:chOff x="0" y="0"/>
            <a:chExt cx="1545664" cy="203314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45664" cy="2033143"/>
            </a:xfrm>
            <a:custGeom>
              <a:avLst/>
              <a:gdLst/>
              <a:ahLst/>
              <a:cxnLst/>
              <a:rect l="l" t="t" r="r" b="b"/>
              <a:pathLst>
                <a:path w="1545664" h="2033143">
                  <a:moveTo>
                    <a:pt x="67279" y="0"/>
                  </a:moveTo>
                  <a:lnTo>
                    <a:pt x="1478386" y="0"/>
                  </a:lnTo>
                  <a:cubicBezTo>
                    <a:pt x="1496229" y="0"/>
                    <a:pt x="1513342" y="7088"/>
                    <a:pt x="1525959" y="19705"/>
                  </a:cubicBezTo>
                  <a:cubicBezTo>
                    <a:pt x="1538576" y="32323"/>
                    <a:pt x="1545664" y="49435"/>
                    <a:pt x="1545664" y="67279"/>
                  </a:cubicBezTo>
                  <a:lnTo>
                    <a:pt x="1545664" y="1965865"/>
                  </a:lnTo>
                  <a:cubicBezTo>
                    <a:pt x="1545664" y="1983708"/>
                    <a:pt x="1538576" y="2000821"/>
                    <a:pt x="1525959" y="2013438"/>
                  </a:cubicBezTo>
                  <a:cubicBezTo>
                    <a:pt x="1513342" y="2026055"/>
                    <a:pt x="1496229" y="2033143"/>
                    <a:pt x="1478386" y="2033143"/>
                  </a:cubicBezTo>
                  <a:lnTo>
                    <a:pt x="67279" y="2033143"/>
                  </a:lnTo>
                  <a:cubicBezTo>
                    <a:pt x="49435" y="2033143"/>
                    <a:pt x="32323" y="2026055"/>
                    <a:pt x="19705" y="2013438"/>
                  </a:cubicBezTo>
                  <a:cubicBezTo>
                    <a:pt x="7088" y="2000821"/>
                    <a:pt x="0" y="1983708"/>
                    <a:pt x="0" y="1965865"/>
                  </a:cubicBezTo>
                  <a:lnTo>
                    <a:pt x="0" y="67279"/>
                  </a:lnTo>
                  <a:cubicBezTo>
                    <a:pt x="0" y="49435"/>
                    <a:pt x="7088" y="32323"/>
                    <a:pt x="19705" y="19705"/>
                  </a:cubicBezTo>
                  <a:cubicBezTo>
                    <a:pt x="32323" y="7088"/>
                    <a:pt x="49435" y="0"/>
                    <a:pt x="67279" y="0"/>
                  </a:cubicBezTo>
                  <a:close/>
                </a:path>
              </a:pathLst>
            </a:custGeom>
            <a:solidFill>
              <a:srgbClr val="8E3C47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545664" cy="2071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1445842" y="3533339"/>
            <a:ext cx="6089941" cy="2078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Power BI</a:t>
            </a:r>
          </a:p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Excel</a:t>
            </a:r>
          </a:p>
          <a:p>
            <a:pPr marL="557781" lvl="1" indent="-278891" algn="l">
              <a:lnSpc>
                <a:spcPts val="4133"/>
              </a:lnSpc>
              <a:buFont typeface="Arial"/>
              <a:buChar char="•"/>
            </a:pPr>
            <a:r>
              <a:rPr lang="en-US" sz="2583" spc="129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Data Visualization Techniques</a:t>
            </a:r>
          </a:p>
          <a:p>
            <a:pPr marL="0" lvl="0" indent="0" algn="l">
              <a:lnSpc>
                <a:spcPts val="4133"/>
              </a:lnSpc>
            </a:pPr>
            <a:endParaRPr lang="en-US" sz="2583" spc="129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499192" y="2308801"/>
            <a:ext cx="4500453" cy="54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61"/>
              </a:lnSpc>
            </a:pPr>
            <a:r>
              <a:rPr lang="en-US" sz="3735" spc="261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Approach Followed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948423" y="2308801"/>
            <a:ext cx="4500453" cy="542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1"/>
              </a:lnSpc>
            </a:pPr>
            <a:r>
              <a:rPr lang="en-US" sz="3735" spc="261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Tool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5338" y="5408607"/>
            <a:ext cx="4192369" cy="4878393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2705" y="7607601"/>
            <a:ext cx="1936271" cy="2253115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3068" y="-924257"/>
            <a:ext cx="1936271" cy="2253115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841778" y="395436"/>
            <a:ext cx="502580" cy="584821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756720" y="2801771"/>
            <a:ext cx="502580" cy="584821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9624502" y="152400"/>
          <a:ext cx="7634798" cy="9982200"/>
        </p:xfrm>
        <a:graphic>
          <a:graphicData uri="http://schemas.openxmlformats.org/drawingml/2006/table">
            <a:tbl>
              <a:tblPr/>
              <a:tblGrid>
                <a:gridCol w="381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7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Column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Car manufacturer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Company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Vehicle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Selling price of the car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SUV, Sedan, Hatchback, etc.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Body_Style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Automatic / Manual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Transmission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Selling dealer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Dealer_Name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Dealer location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Dealer_Region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gender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 income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Annual_Income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Sales transaction 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Budget / Mid / Premium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Price_Category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EAA1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028700" y="2962276"/>
            <a:ext cx="7604337" cy="218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49"/>
              </a:lnSpc>
            </a:pPr>
            <a:r>
              <a:rPr lang="en-US" sz="8499" spc="594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DATA DICTIONARY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89150" y="0"/>
            <a:ext cx="6000505" cy="10422358"/>
            <a:chOff x="0" y="0"/>
            <a:chExt cx="929635" cy="16146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9635" cy="1614696"/>
            </a:xfrm>
            <a:custGeom>
              <a:avLst/>
              <a:gdLst/>
              <a:ahLst/>
              <a:cxnLst/>
              <a:rect l="l" t="t" r="r" b="b"/>
              <a:pathLst>
                <a:path w="929635" h="1614696">
                  <a:moveTo>
                    <a:pt x="0" y="0"/>
                  </a:moveTo>
                  <a:lnTo>
                    <a:pt x="929635" y="0"/>
                  </a:lnTo>
                  <a:lnTo>
                    <a:pt x="929635" y="1614696"/>
                  </a:lnTo>
                  <a:lnTo>
                    <a:pt x="0" y="1614696"/>
                  </a:lnTo>
                  <a:close/>
                </a:path>
              </a:pathLst>
            </a:custGeom>
            <a:blipFill>
              <a:blip r:embed="rId2"/>
              <a:stretch>
                <a:fillRect l="-123691" r="-12369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358166" y="1260652"/>
            <a:ext cx="669034" cy="778512"/>
            <a:chOff x="0" y="0"/>
            <a:chExt cx="6985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2223" y="2369918"/>
            <a:ext cx="5622910" cy="7300799"/>
            <a:chOff x="0" y="0"/>
            <a:chExt cx="1480931" cy="19228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0931" cy="1922844"/>
            </a:xfrm>
            <a:custGeom>
              <a:avLst/>
              <a:gdLst/>
              <a:ahLst/>
              <a:cxnLst/>
              <a:rect l="l" t="t" r="r" b="b"/>
              <a:pathLst>
                <a:path w="1480931" h="1922844">
                  <a:moveTo>
                    <a:pt x="70220" y="0"/>
                  </a:moveTo>
                  <a:lnTo>
                    <a:pt x="1410711" y="0"/>
                  </a:lnTo>
                  <a:cubicBezTo>
                    <a:pt x="1449493" y="0"/>
                    <a:pt x="1480931" y="31438"/>
                    <a:pt x="1480931" y="70220"/>
                  </a:cubicBezTo>
                  <a:lnTo>
                    <a:pt x="1480931" y="1852625"/>
                  </a:lnTo>
                  <a:cubicBezTo>
                    <a:pt x="1480931" y="1891406"/>
                    <a:pt x="1449493" y="1922844"/>
                    <a:pt x="1410711" y="1922844"/>
                  </a:cubicBezTo>
                  <a:lnTo>
                    <a:pt x="70220" y="1922844"/>
                  </a:lnTo>
                  <a:cubicBezTo>
                    <a:pt x="31438" y="1922844"/>
                    <a:pt x="0" y="1891406"/>
                    <a:pt x="0" y="1852625"/>
                  </a:cubicBezTo>
                  <a:lnTo>
                    <a:pt x="0" y="70220"/>
                  </a:lnTo>
                  <a:cubicBezTo>
                    <a:pt x="0" y="31438"/>
                    <a:pt x="31438" y="0"/>
                    <a:pt x="7022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80931" cy="1960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515686" y="2369918"/>
            <a:ext cx="5622910" cy="7300799"/>
            <a:chOff x="0" y="0"/>
            <a:chExt cx="1480931" cy="19228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80931" cy="1922844"/>
            </a:xfrm>
            <a:custGeom>
              <a:avLst/>
              <a:gdLst/>
              <a:ahLst/>
              <a:cxnLst/>
              <a:rect l="l" t="t" r="r" b="b"/>
              <a:pathLst>
                <a:path w="1480931" h="1922844">
                  <a:moveTo>
                    <a:pt x="70220" y="0"/>
                  </a:moveTo>
                  <a:lnTo>
                    <a:pt x="1410711" y="0"/>
                  </a:lnTo>
                  <a:cubicBezTo>
                    <a:pt x="1449493" y="0"/>
                    <a:pt x="1480931" y="31438"/>
                    <a:pt x="1480931" y="70220"/>
                  </a:cubicBezTo>
                  <a:lnTo>
                    <a:pt x="1480931" y="1852625"/>
                  </a:lnTo>
                  <a:cubicBezTo>
                    <a:pt x="1480931" y="1891406"/>
                    <a:pt x="1449493" y="1922844"/>
                    <a:pt x="1410711" y="1922844"/>
                  </a:cubicBezTo>
                  <a:lnTo>
                    <a:pt x="70220" y="1922844"/>
                  </a:lnTo>
                  <a:cubicBezTo>
                    <a:pt x="31438" y="1922844"/>
                    <a:pt x="0" y="1891406"/>
                    <a:pt x="0" y="1852625"/>
                  </a:cubicBezTo>
                  <a:lnTo>
                    <a:pt x="0" y="70220"/>
                  </a:lnTo>
                  <a:cubicBezTo>
                    <a:pt x="0" y="31438"/>
                    <a:pt x="31438" y="0"/>
                    <a:pt x="70220" y="0"/>
                  </a:cubicBezTo>
                  <a:close/>
                </a:path>
              </a:pathLst>
            </a:custGeom>
            <a:solidFill>
              <a:srgbClr val="E8D8C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80931" cy="1960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33155" y="188694"/>
            <a:ext cx="11025012" cy="218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49"/>
              </a:lnSpc>
            </a:pPr>
            <a:r>
              <a:rPr lang="en-US" sz="8499" spc="594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 SOLUTION METHODOLOGY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7273" y="2582619"/>
            <a:ext cx="4312809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1"/>
              </a:lnSpc>
            </a:pPr>
            <a:r>
              <a:rPr lang="en-US" sz="3135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Methodology Steps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501903"/>
            <a:ext cx="5125036" cy="3446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1956" lvl="1" indent="-265978" algn="l">
              <a:lnSpc>
                <a:spcPts val="3942"/>
              </a:lnSpc>
              <a:buAutoNum type="arabicPeriod"/>
            </a:pPr>
            <a:r>
              <a:rPr lang="en-US" sz="2463" spc="123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Data Understanding</a:t>
            </a:r>
          </a:p>
          <a:p>
            <a:pPr marL="531956" lvl="1" indent="-265978" algn="l">
              <a:lnSpc>
                <a:spcPts val="3942"/>
              </a:lnSpc>
              <a:buAutoNum type="arabicPeriod"/>
            </a:pPr>
            <a:r>
              <a:rPr lang="en-US" sz="2463" spc="123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Data Cleaning &amp; Validation</a:t>
            </a:r>
          </a:p>
          <a:p>
            <a:pPr marL="531956" lvl="1" indent="-265978" algn="l">
              <a:lnSpc>
                <a:spcPts val="3942"/>
              </a:lnSpc>
              <a:buAutoNum type="arabicPeriod"/>
            </a:pPr>
            <a:r>
              <a:rPr lang="en-US" sz="2463" spc="123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Exploratory Data Analysis (EDA)</a:t>
            </a:r>
          </a:p>
          <a:p>
            <a:pPr marL="531956" lvl="1" indent="-265978" algn="l">
              <a:lnSpc>
                <a:spcPts val="3942"/>
              </a:lnSpc>
              <a:buAutoNum type="arabicPeriod"/>
            </a:pPr>
            <a:r>
              <a:rPr lang="en-US" sz="2463" spc="123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Dashboard Creation</a:t>
            </a:r>
          </a:p>
          <a:p>
            <a:pPr marL="531956" lvl="1" indent="-265978" algn="l">
              <a:lnSpc>
                <a:spcPts val="3942"/>
              </a:lnSpc>
              <a:buAutoNum type="arabicPeriod"/>
            </a:pPr>
            <a:r>
              <a:rPr lang="en-US" sz="2463" spc="123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Insight Generation</a:t>
            </a:r>
          </a:p>
          <a:p>
            <a:pPr algn="l">
              <a:lnSpc>
                <a:spcPts val="3942"/>
              </a:lnSpc>
            </a:pPr>
            <a:endParaRPr lang="en-US" sz="2463" spc="123">
              <a:solidFill>
                <a:srgbClr val="2F0C1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987595" y="2582619"/>
            <a:ext cx="4312809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Analysis Type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23243" y="3621752"/>
            <a:ext cx="5303956" cy="166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248" lvl="1" indent="-301624" algn="l">
              <a:lnSpc>
                <a:spcPts val="4470"/>
              </a:lnSpc>
              <a:buAutoNum type="arabicPeriod"/>
            </a:pPr>
            <a:r>
              <a:rPr lang="en-US" sz="2794" spc="139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Descriptive Analytics</a:t>
            </a:r>
          </a:p>
          <a:p>
            <a:pPr marL="603248" lvl="1" indent="-301624" algn="l">
              <a:lnSpc>
                <a:spcPts val="4470"/>
              </a:lnSpc>
              <a:buAutoNum type="arabicPeriod"/>
            </a:pPr>
            <a:r>
              <a:rPr lang="en-US" sz="2794" spc="139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Diagnostic Analytics</a:t>
            </a:r>
          </a:p>
          <a:p>
            <a:pPr algn="l">
              <a:lnSpc>
                <a:spcPts val="4470"/>
              </a:lnSpc>
            </a:pPr>
            <a:endParaRPr lang="en-US" sz="2794" spc="139">
              <a:solidFill>
                <a:srgbClr val="2F0C1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75720" y="1559023"/>
            <a:ext cx="5946996" cy="2155749"/>
          </a:xfrm>
          <a:custGeom>
            <a:avLst/>
            <a:gdLst/>
            <a:ahLst/>
            <a:cxnLst/>
            <a:rect l="l" t="t" r="r" b="b"/>
            <a:pathLst>
              <a:path w="5946996" h="2155749">
                <a:moveTo>
                  <a:pt x="0" y="0"/>
                </a:moveTo>
                <a:lnTo>
                  <a:pt x="5946996" y="0"/>
                </a:lnTo>
                <a:lnTo>
                  <a:pt x="5946996" y="2155748"/>
                </a:lnTo>
                <a:lnTo>
                  <a:pt x="0" y="2155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24" t="-7990" b="-799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01756" y="6492951"/>
            <a:ext cx="5894925" cy="3665238"/>
          </a:xfrm>
          <a:custGeom>
            <a:avLst/>
            <a:gdLst/>
            <a:ahLst/>
            <a:cxnLst/>
            <a:rect l="l" t="t" r="r" b="b"/>
            <a:pathLst>
              <a:path w="5894925" h="3665238">
                <a:moveTo>
                  <a:pt x="0" y="0"/>
                </a:moveTo>
                <a:lnTo>
                  <a:pt x="5894925" y="0"/>
                </a:lnTo>
                <a:lnTo>
                  <a:pt x="5894925" y="3665238"/>
                </a:lnTo>
                <a:lnTo>
                  <a:pt x="0" y="366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1858" y="3552243"/>
            <a:ext cx="5175885" cy="3408849"/>
          </a:xfrm>
          <a:custGeom>
            <a:avLst/>
            <a:gdLst/>
            <a:ahLst/>
            <a:cxnLst/>
            <a:rect l="l" t="t" r="r" b="b"/>
            <a:pathLst>
              <a:path w="5175885" h="3408849">
                <a:moveTo>
                  <a:pt x="0" y="0"/>
                </a:moveTo>
                <a:lnTo>
                  <a:pt x="5175885" y="0"/>
                </a:lnTo>
                <a:lnTo>
                  <a:pt x="5175885" y="3408849"/>
                </a:lnTo>
                <a:lnTo>
                  <a:pt x="0" y="34088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9137" y="66675"/>
            <a:ext cx="16420163" cy="109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3"/>
              </a:lnSpc>
            </a:pPr>
            <a:r>
              <a:rPr lang="en-US" sz="7626" spc="533">
                <a:solidFill>
                  <a:srgbClr val="2F0C11"/>
                </a:solidFill>
                <a:latin typeface="Active Heart"/>
                <a:ea typeface="Active Heart"/>
                <a:cs typeface="Active Heart"/>
                <a:sym typeface="Active Heart"/>
              </a:rPr>
              <a:t>EDA RESULTS – REVENUE ANALYSIS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292398" y="1479123"/>
            <a:ext cx="5622910" cy="8499292"/>
            <a:chOff x="0" y="0"/>
            <a:chExt cx="1480931" cy="22384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80931" cy="2238497"/>
            </a:xfrm>
            <a:custGeom>
              <a:avLst/>
              <a:gdLst/>
              <a:ahLst/>
              <a:cxnLst/>
              <a:rect l="l" t="t" r="r" b="b"/>
              <a:pathLst>
                <a:path w="1480931" h="2238497">
                  <a:moveTo>
                    <a:pt x="70220" y="0"/>
                  </a:moveTo>
                  <a:lnTo>
                    <a:pt x="1410711" y="0"/>
                  </a:lnTo>
                  <a:cubicBezTo>
                    <a:pt x="1449493" y="0"/>
                    <a:pt x="1480931" y="31438"/>
                    <a:pt x="1480931" y="70220"/>
                  </a:cubicBezTo>
                  <a:lnTo>
                    <a:pt x="1480931" y="2168277"/>
                  </a:lnTo>
                  <a:cubicBezTo>
                    <a:pt x="1480931" y="2207058"/>
                    <a:pt x="1449493" y="2238497"/>
                    <a:pt x="1410711" y="2238497"/>
                  </a:cubicBezTo>
                  <a:lnTo>
                    <a:pt x="70220" y="2238497"/>
                  </a:lnTo>
                  <a:cubicBezTo>
                    <a:pt x="31438" y="2238497"/>
                    <a:pt x="0" y="2207058"/>
                    <a:pt x="0" y="2168277"/>
                  </a:cubicBezTo>
                  <a:lnTo>
                    <a:pt x="0" y="70220"/>
                  </a:lnTo>
                  <a:cubicBezTo>
                    <a:pt x="0" y="31438"/>
                    <a:pt x="31438" y="0"/>
                    <a:pt x="70220" y="0"/>
                  </a:cubicBezTo>
                  <a:close/>
                </a:path>
              </a:pathLst>
            </a:custGeom>
            <a:solidFill>
              <a:srgbClr val="8E3C4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80931" cy="22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800285" y="1762989"/>
            <a:ext cx="4312809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92398" y="2664159"/>
            <a:ext cx="5622910" cy="454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Automatic cars outperform manual cars in revenue</a:t>
            </a:r>
          </a:p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Certain regions generate significantly higher sales</a:t>
            </a:r>
          </a:p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Clear geographical sales concentration observed</a:t>
            </a:r>
          </a:p>
          <a:p>
            <a:pPr algn="l">
              <a:lnSpc>
                <a:spcPts val="4568"/>
              </a:lnSpc>
            </a:pPr>
            <a:endParaRPr lang="en-US" sz="2855" spc="142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31708" y="1998932"/>
            <a:ext cx="4662963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541820"/>
                </a:solidFill>
                <a:latin typeface="Active Heart"/>
                <a:ea typeface="Active Heart"/>
                <a:cs typeface="Active Heart"/>
                <a:sym typeface="Active Heart"/>
              </a:rPr>
              <a:t>Total Revenue KPI Card-&gt;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9133" y="7762216"/>
            <a:ext cx="5461958" cy="79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541820"/>
                </a:solidFill>
                <a:latin typeface="Active Heart"/>
                <a:ea typeface="Active Heart"/>
                <a:cs typeface="Active Heart"/>
                <a:sym typeface="Active Heart"/>
              </a:rPr>
              <a:t>Total Revenue by Transmission (Bar Chart)-&gt;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87743" y="4720281"/>
            <a:ext cx="5461958" cy="79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541820"/>
                </a:solidFill>
                <a:latin typeface="Active Heart"/>
                <a:ea typeface="Active Heart"/>
                <a:cs typeface="Active Heart"/>
                <a:sym typeface="Active Heart"/>
              </a:rPr>
              <a:t>&lt;-Total Revenue by Dealer Region (Map)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149587"/>
            <a:ext cx="10757437" cy="3709850"/>
          </a:xfrm>
          <a:custGeom>
            <a:avLst/>
            <a:gdLst/>
            <a:ahLst/>
            <a:cxnLst/>
            <a:rect l="l" t="t" r="r" b="b"/>
            <a:pathLst>
              <a:path w="10757437" h="3709850">
                <a:moveTo>
                  <a:pt x="0" y="0"/>
                </a:moveTo>
                <a:lnTo>
                  <a:pt x="10757437" y="0"/>
                </a:lnTo>
                <a:lnTo>
                  <a:pt x="10757437" y="3709850"/>
                </a:lnTo>
                <a:lnTo>
                  <a:pt x="0" y="370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46" b="-124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9790" y="66675"/>
            <a:ext cx="18177953" cy="109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3"/>
              </a:lnSpc>
            </a:pPr>
            <a:r>
              <a:rPr lang="en-US" sz="7626" spc="533" dirty="0">
                <a:solidFill>
                  <a:srgbClr val="2F0C11"/>
                </a:solidFill>
                <a:latin typeface="Active Heart"/>
                <a:ea typeface="Active Heart"/>
                <a:cs typeface="Active Heart"/>
                <a:sym typeface="Active Heart"/>
              </a:rPr>
              <a:t>EDA RESULTS – TIME-BASED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6949" y="2210603"/>
            <a:ext cx="6820250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Total Revenue by Month (Line Chart)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20023" y="1721033"/>
            <a:ext cx="5622910" cy="8499292"/>
            <a:chOff x="0" y="0"/>
            <a:chExt cx="1480931" cy="22384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0931" cy="2238497"/>
            </a:xfrm>
            <a:custGeom>
              <a:avLst/>
              <a:gdLst/>
              <a:ahLst/>
              <a:cxnLst/>
              <a:rect l="l" t="t" r="r" b="b"/>
              <a:pathLst>
                <a:path w="1480931" h="2238497">
                  <a:moveTo>
                    <a:pt x="70220" y="0"/>
                  </a:moveTo>
                  <a:lnTo>
                    <a:pt x="1410711" y="0"/>
                  </a:lnTo>
                  <a:cubicBezTo>
                    <a:pt x="1449493" y="0"/>
                    <a:pt x="1480931" y="31438"/>
                    <a:pt x="1480931" y="70220"/>
                  </a:cubicBezTo>
                  <a:lnTo>
                    <a:pt x="1480931" y="2168277"/>
                  </a:lnTo>
                  <a:cubicBezTo>
                    <a:pt x="1480931" y="2207058"/>
                    <a:pt x="1449493" y="2238497"/>
                    <a:pt x="1410711" y="2238497"/>
                  </a:cubicBezTo>
                  <a:lnTo>
                    <a:pt x="70220" y="2238497"/>
                  </a:lnTo>
                  <a:cubicBezTo>
                    <a:pt x="31438" y="2238497"/>
                    <a:pt x="0" y="2207058"/>
                    <a:pt x="0" y="2168277"/>
                  </a:cubicBezTo>
                  <a:lnTo>
                    <a:pt x="0" y="70220"/>
                  </a:lnTo>
                  <a:cubicBezTo>
                    <a:pt x="0" y="31438"/>
                    <a:pt x="31438" y="0"/>
                    <a:pt x="70220" y="0"/>
                  </a:cubicBezTo>
                  <a:close/>
                </a:path>
              </a:pathLst>
            </a:custGeom>
            <a:solidFill>
              <a:srgbClr val="8E3C4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480931" cy="22765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00285" y="1762989"/>
            <a:ext cx="4312809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 dirty="0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92398" y="2664159"/>
            <a:ext cx="5622910" cy="466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Revenue peaks in May and August</a:t>
            </a:r>
          </a:p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Sales dip observed in July</a:t>
            </a:r>
          </a:p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Seasonal trends affect customer purchasing behavior</a:t>
            </a:r>
          </a:p>
          <a:p>
            <a:pPr marL="616497" lvl="1" indent="-308249" algn="l">
              <a:lnSpc>
                <a:spcPts val="4568"/>
              </a:lnSpc>
              <a:buAutoNum type="arabicPeriod"/>
            </a:pPr>
            <a:endParaRPr lang="en-US" sz="2855" spc="142" dirty="0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24C7249-D5E4-44BB-88AC-A1C1399F9538}"/>
              </a:ext>
            </a:extLst>
          </p:cNvPr>
          <p:cNvSpPr txBox="1"/>
          <p:nvPr/>
        </p:nvSpPr>
        <p:spPr>
          <a:xfrm>
            <a:off x="12120023" y="7585795"/>
            <a:ext cx="5536722" cy="1126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Promotions &amp; Discounts</a:t>
            </a:r>
          </a:p>
          <a:p>
            <a:pPr marL="616497" lvl="1" indent="-308249" algn="l">
              <a:lnSpc>
                <a:spcPts val="4568"/>
              </a:lnSpc>
              <a:buAutoNum type="arabicPeriod"/>
            </a:pPr>
            <a:r>
              <a:rPr lang="en-US" sz="2855" spc="142" dirty="0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Flexible EMI Options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D8B1AB65-9EFB-4E2D-AB32-946786D0DBE7}"/>
              </a:ext>
            </a:extLst>
          </p:cNvPr>
          <p:cNvSpPr txBox="1"/>
          <p:nvPr/>
        </p:nvSpPr>
        <p:spPr>
          <a:xfrm>
            <a:off x="12420600" y="7019663"/>
            <a:ext cx="4312809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821"/>
              </a:lnSpc>
            </a:pPr>
            <a:r>
              <a:rPr lang="en-US" sz="3135" spc="219" dirty="0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Suggestions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0976" y="1807711"/>
            <a:ext cx="8967790" cy="3335789"/>
          </a:xfrm>
          <a:custGeom>
            <a:avLst/>
            <a:gdLst/>
            <a:ahLst/>
            <a:cxnLst/>
            <a:rect l="l" t="t" r="r" b="b"/>
            <a:pathLst>
              <a:path w="8967790" h="3335789">
                <a:moveTo>
                  <a:pt x="0" y="0"/>
                </a:moveTo>
                <a:lnTo>
                  <a:pt x="8967790" y="0"/>
                </a:lnTo>
                <a:lnTo>
                  <a:pt x="8967790" y="3335789"/>
                </a:lnTo>
                <a:lnTo>
                  <a:pt x="0" y="3335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9790" y="6580152"/>
            <a:ext cx="10533710" cy="3542309"/>
          </a:xfrm>
          <a:custGeom>
            <a:avLst/>
            <a:gdLst/>
            <a:ahLst/>
            <a:cxnLst/>
            <a:rect l="l" t="t" r="r" b="b"/>
            <a:pathLst>
              <a:path w="10533710" h="3542309">
                <a:moveTo>
                  <a:pt x="0" y="0"/>
                </a:moveTo>
                <a:lnTo>
                  <a:pt x="10533710" y="0"/>
                </a:lnTo>
                <a:lnTo>
                  <a:pt x="10533710" y="3542309"/>
                </a:lnTo>
                <a:lnTo>
                  <a:pt x="0" y="3542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799985" y="1679378"/>
            <a:ext cx="6972846" cy="3464122"/>
          </a:xfrm>
          <a:custGeom>
            <a:avLst/>
            <a:gdLst/>
            <a:ahLst/>
            <a:cxnLst/>
            <a:rect l="l" t="t" r="r" b="b"/>
            <a:pathLst>
              <a:path w="6972846" h="3464122">
                <a:moveTo>
                  <a:pt x="0" y="0"/>
                </a:moveTo>
                <a:lnTo>
                  <a:pt x="6972846" y="0"/>
                </a:lnTo>
                <a:lnTo>
                  <a:pt x="6972846" y="3464122"/>
                </a:lnTo>
                <a:lnTo>
                  <a:pt x="0" y="34641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790" y="66675"/>
            <a:ext cx="18177953" cy="109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63"/>
              </a:lnSpc>
            </a:pPr>
            <a:r>
              <a:rPr lang="en-US" sz="7626" spc="533">
                <a:solidFill>
                  <a:srgbClr val="2F0C11"/>
                </a:solidFill>
                <a:latin typeface="Active Heart"/>
                <a:ea typeface="Active Heart"/>
                <a:cs typeface="Active Heart"/>
                <a:sym typeface="Active Heart"/>
              </a:rPr>
              <a:t>EDA RESULTS – PRODUCT ANALYSIS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510782" y="5378234"/>
            <a:ext cx="6335716" cy="4744228"/>
            <a:chOff x="0" y="0"/>
            <a:chExt cx="1668666" cy="12495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8666" cy="1249509"/>
            </a:xfrm>
            <a:custGeom>
              <a:avLst/>
              <a:gdLst/>
              <a:ahLst/>
              <a:cxnLst/>
              <a:rect l="l" t="t" r="r" b="b"/>
              <a:pathLst>
                <a:path w="1668666" h="1249509">
                  <a:moveTo>
                    <a:pt x="62319" y="0"/>
                  </a:moveTo>
                  <a:lnTo>
                    <a:pt x="1606347" y="0"/>
                  </a:lnTo>
                  <a:cubicBezTo>
                    <a:pt x="1622875" y="0"/>
                    <a:pt x="1638726" y="6566"/>
                    <a:pt x="1650413" y="18253"/>
                  </a:cubicBezTo>
                  <a:cubicBezTo>
                    <a:pt x="1662100" y="29940"/>
                    <a:pt x="1668666" y="45791"/>
                    <a:pt x="1668666" y="62319"/>
                  </a:cubicBezTo>
                  <a:lnTo>
                    <a:pt x="1668666" y="1187189"/>
                  </a:lnTo>
                  <a:cubicBezTo>
                    <a:pt x="1668666" y="1203717"/>
                    <a:pt x="1662100" y="1219568"/>
                    <a:pt x="1650413" y="1231256"/>
                  </a:cubicBezTo>
                  <a:cubicBezTo>
                    <a:pt x="1638726" y="1242943"/>
                    <a:pt x="1622875" y="1249509"/>
                    <a:pt x="1606347" y="1249509"/>
                  </a:cubicBezTo>
                  <a:lnTo>
                    <a:pt x="62319" y="1249509"/>
                  </a:lnTo>
                  <a:cubicBezTo>
                    <a:pt x="27901" y="1249509"/>
                    <a:pt x="0" y="1221607"/>
                    <a:pt x="0" y="1187189"/>
                  </a:cubicBezTo>
                  <a:lnTo>
                    <a:pt x="0" y="62319"/>
                  </a:lnTo>
                  <a:cubicBezTo>
                    <a:pt x="0" y="45791"/>
                    <a:pt x="6566" y="29940"/>
                    <a:pt x="18253" y="18253"/>
                  </a:cubicBezTo>
                  <a:cubicBezTo>
                    <a:pt x="29940" y="6566"/>
                    <a:pt x="45791" y="0"/>
                    <a:pt x="62319" y="0"/>
                  </a:cubicBezTo>
                  <a:close/>
                </a:path>
              </a:pathLst>
            </a:custGeom>
            <a:solidFill>
              <a:srgbClr val="8E3C4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68666" cy="12876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130003" y="5686425"/>
            <a:ext cx="4312809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36390" y="6770134"/>
            <a:ext cx="5622910" cy="261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7040" lvl="1" indent="-233520" algn="l">
              <a:lnSpc>
                <a:spcPts val="3461"/>
              </a:lnSpc>
              <a:buAutoNum type="arabicPeriod"/>
            </a:pPr>
            <a:r>
              <a:rPr lang="en-US" sz="2163" spc="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Chevrolet and Ford lead in revenue</a:t>
            </a:r>
          </a:p>
          <a:p>
            <a:pPr marL="467040" lvl="1" indent="-233520" algn="l">
              <a:lnSpc>
                <a:spcPts val="3461"/>
              </a:lnSpc>
              <a:buAutoNum type="arabicPeriod"/>
            </a:pPr>
            <a:r>
              <a:rPr lang="en-US" sz="2163" spc="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Models like LS400 and Silhouette are top performers</a:t>
            </a:r>
          </a:p>
          <a:p>
            <a:pPr marL="467040" lvl="1" indent="-233520" algn="l">
              <a:lnSpc>
                <a:spcPts val="3461"/>
              </a:lnSpc>
              <a:buAutoNum type="arabicPeriod"/>
            </a:pPr>
            <a:r>
              <a:rPr lang="en-US" sz="2163" spc="108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SUVs and Sedans contribute maximum revenue</a:t>
            </a:r>
          </a:p>
          <a:p>
            <a:pPr algn="l">
              <a:lnSpc>
                <a:spcPts val="3461"/>
              </a:lnSpc>
            </a:pPr>
            <a:endParaRPr lang="en-US" sz="2163" spc="108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502" y="1277615"/>
            <a:ext cx="6820250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u="sng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Revenue by Company (Bar Chart)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9985" y="1213449"/>
            <a:ext cx="6820250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u="sng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Revenue by Body Style (Donut Chart)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0976" y="5686425"/>
            <a:ext cx="7419496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u="sng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Revenue by Model (Horizontal Bar Chart)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9807" y="5957473"/>
            <a:ext cx="8752676" cy="4184931"/>
            <a:chOff x="0" y="0"/>
            <a:chExt cx="2305232" cy="11022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5232" cy="1102204"/>
            </a:xfrm>
            <a:custGeom>
              <a:avLst/>
              <a:gdLst/>
              <a:ahLst/>
              <a:cxnLst/>
              <a:rect l="l" t="t" r="r" b="b"/>
              <a:pathLst>
                <a:path w="2305232" h="1102204">
                  <a:moveTo>
                    <a:pt x="45111" y="0"/>
                  </a:moveTo>
                  <a:lnTo>
                    <a:pt x="2260121" y="0"/>
                  </a:lnTo>
                  <a:cubicBezTo>
                    <a:pt x="2272085" y="0"/>
                    <a:pt x="2283559" y="4753"/>
                    <a:pt x="2292019" y="13213"/>
                  </a:cubicBezTo>
                  <a:cubicBezTo>
                    <a:pt x="2300479" y="21672"/>
                    <a:pt x="2305232" y="33146"/>
                    <a:pt x="2305232" y="45111"/>
                  </a:cubicBezTo>
                  <a:lnTo>
                    <a:pt x="2305232" y="1057094"/>
                  </a:lnTo>
                  <a:cubicBezTo>
                    <a:pt x="2305232" y="1082007"/>
                    <a:pt x="2285035" y="1102204"/>
                    <a:pt x="2260121" y="1102204"/>
                  </a:cubicBezTo>
                  <a:lnTo>
                    <a:pt x="45111" y="1102204"/>
                  </a:lnTo>
                  <a:cubicBezTo>
                    <a:pt x="20197" y="1102204"/>
                    <a:pt x="0" y="1082007"/>
                    <a:pt x="0" y="1057094"/>
                  </a:cubicBezTo>
                  <a:lnTo>
                    <a:pt x="0" y="45111"/>
                  </a:lnTo>
                  <a:cubicBezTo>
                    <a:pt x="0" y="20197"/>
                    <a:pt x="20197" y="0"/>
                    <a:pt x="45111" y="0"/>
                  </a:cubicBezTo>
                  <a:close/>
                </a:path>
              </a:pathLst>
            </a:custGeom>
            <a:solidFill>
              <a:srgbClr val="8E3C4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5232" cy="11403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28449" y="1869336"/>
            <a:ext cx="5958493" cy="3600251"/>
          </a:xfrm>
          <a:custGeom>
            <a:avLst/>
            <a:gdLst/>
            <a:ahLst/>
            <a:cxnLst/>
            <a:rect l="l" t="t" r="r" b="b"/>
            <a:pathLst>
              <a:path w="5958493" h="3600251">
                <a:moveTo>
                  <a:pt x="0" y="0"/>
                </a:moveTo>
                <a:lnTo>
                  <a:pt x="5958493" y="0"/>
                </a:lnTo>
                <a:lnTo>
                  <a:pt x="5958493" y="3600250"/>
                </a:lnTo>
                <a:lnTo>
                  <a:pt x="0" y="360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129967" y="1923695"/>
            <a:ext cx="9704559" cy="3893954"/>
          </a:xfrm>
          <a:custGeom>
            <a:avLst/>
            <a:gdLst/>
            <a:ahLst/>
            <a:cxnLst/>
            <a:rect l="l" t="t" r="r" b="b"/>
            <a:pathLst>
              <a:path w="9704559" h="3893954">
                <a:moveTo>
                  <a:pt x="0" y="0"/>
                </a:moveTo>
                <a:lnTo>
                  <a:pt x="9704559" y="0"/>
                </a:lnTo>
                <a:lnTo>
                  <a:pt x="9704559" y="3893954"/>
                </a:lnTo>
                <a:lnTo>
                  <a:pt x="0" y="3893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8449" y="6171866"/>
            <a:ext cx="4744189" cy="3902457"/>
          </a:xfrm>
          <a:custGeom>
            <a:avLst/>
            <a:gdLst/>
            <a:ahLst/>
            <a:cxnLst/>
            <a:rect l="l" t="t" r="r" b="b"/>
            <a:pathLst>
              <a:path w="4744189" h="3902457">
                <a:moveTo>
                  <a:pt x="0" y="0"/>
                </a:moveTo>
                <a:lnTo>
                  <a:pt x="4744189" y="0"/>
                </a:lnTo>
                <a:lnTo>
                  <a:pt x="4744189" y="3902458"/>
                </a:lnTo>
                <a:lnTo>
                  <a:pt x="0" y="3902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861" b="-1643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83171" y="136818"/>
            <a:ext cx="14721657" cy="902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84"/>
              </a:lnSpc>
            </a:pPr>
            <a:r>
              <a:rPr lang="en-US" sz="6315" spc="442">
                <a:solidFill>
                  <a:srgbClr val="2F0C11"/>
                </a:solidFill>
                <a:latin typeface="Active Heart"/>
                <a:ea typeface="Active Heart"/>
                <a:cs typeface="Active Heart"/>
                <a:sym typeface="Active Heart"/>
              </a:rPr>
              <a:t> EDA RESULTS – CUSTOMER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25842" y="6200441"/>
            <a:ext cx="4312809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Insights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72842" y="6893193"/>
            <a:ext cx="7386458" cy="2951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1809" lvl="1" indent="-265904" algn="l">
              <a:lnSpc>
                <a:spcPts val="3941"/>
              </a:lnSpc>
              <a:buAutoNum type="arabicPeriod"/>
            </a:pPr>
            <a:r>
              <a:rPr lang="en-US" sz="2463" spc="12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Male customers dominate sales and revenue</a:t>
            </a:r>
          </a:p>
          <a:p>
            <a:pPr marL="531809" lvl="1" indent="-265904" algn="l">
              <a:lnSpc>
                <a:spcPts val="3941"/>
              </a:lnSpc>
              <a:buAutoNum type="arabicPeriod"/>
            </a:pPr>
            <a:r>
              <a:rPr lang="en-US" sz="2463" spc="12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Females prefer balanced body styles</a:t>
            </a:r>
          </a:p>
          <a:p>
            <a:pPr marL="531809" lvl="1" indent="-265904" algn="l">
              <a:lnSpc>
                <a:spcPts val="3941"/>
              </a:lnSpc>
              <a:buAutoNum type="arabicPeriod"/>
            </a:pPr>
            <a:r>
              <a:rPr lang="en-US" sz="2463" spc="123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Gender-based marketing opportunity exists</a:t>
            </a:r>
          </a:p>
          <a:p>
            <a:pPr algn="l">
              <a:lnSpc>
                <a:spcPts val="3941"/>
              </a:lnSpc>
            </a:pPr>
            <a:endParaRPr lang="en-US" sz="2463" spc="123">
              <a:solidFill>
                <a:srgbClr val="FFFFFF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57502" y="1277615"/>
            <a:ext cx="6820250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u="sng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Cars Sold by Gender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19807" y="1277615"/>
            <a:ext cx="6820250" cy="44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1"/>
              </a:lnSpc>
            </a:pPr>
            <a:r>
              <a:rPr lang="en-US" sz="3135" u="sng" spc="219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Cars Sold by Gender &amp; Body Style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7478" y="5698186"/>
            <a:ext cx="4086632" cy="45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6"/>
              </a:lnSpc>
            </a:pPr>
            <a:r>
              <a:rPr lang="en-US" sz="3118" u="sng" spc="218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Revenue by Gender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D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68675" y="460993"/>
            <a:ext cx="5189878" cy="6039131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397386" y="-2718235"/>
            <a:ext cx="5240994" cy="609861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86260" y="1999657"/>
            <a:ext cx="2701740" cy="3143843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2374" y="2967120"/>
            <a:ext cx="1572651" cy="1829994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784871" y="9523042"/>
            <a:ext cx="1572651" cy="1829994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715290" y="237947"/>
            <a:ext cx="13053789" cy="1219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49"/>
              </a:lnSpc>
            </a:pPr>
            <a:r>
              <a:rPr lang="en-US" sz="8499" spc="594">
                <a:solidFill>
                  <a:srgbClr val="561C24"/>
                </a:solidFill>
                <a:latin typeface="Active Heart"/>
                <a:ea typeface="Active Heart"/>
                <a:cs typeface="Active Heart"/>
                <a:sym typeface="Active Heart"/>
              </a:rPr>
              <a:t> DATA PREPROCESSING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15290" y="2515710"/>
            <a:ext cx="461511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</a:pPr>
            <a:r>
              <a:rPr lang="en-US" sz="3499" spc="244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Data Cleaning Steps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53473" y="3384949"/>
            <a:ext cx="6311291" cy="4086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087" lvl="1" indent="-312544" algn="l">
              <a:lnSpc>
                <a:spcPts val="4632"/>
              </a:lnSpc>
              <a:buFont typeface="Arial"/>
              <a:buChar char="•"/>
            </a:pPr>
            <a:r>
              <a:rPr lang="en-US" sz="2895" spc="144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Removed duplicate records</a:t>
            </a:r>
          </a:p>
          <a:p>
            <a:pPr marL="625087" lvl="1" indent="-312544" algn="l">
              <a:lnSpc>
                <a:spcPts val="4632"/>
              </a:lnSpc>
              <a:buFont typeface="Arial"/>
              <a:buChar char="•"/>
            </a:pPr>
            <a:r>
              <a:rPr lang="en-US" sz="2895" spc="144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Handled missing values</a:t>
            </a:r>
          </a:p>
          <a:p>
            <a:pPr marL="625087" lvl="1" indent="-312544" algn="l">
              <a:lnSpc>
                <a:spcPts val="4632"/>
              </a:lnSpc>
              <a:buFont typeface="Arial"/>
              <a:buChar char="•"/>
            </a:pPr>
            <a:r>
              <a:rPr lang="en-US" sz="2895" spc="144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Standardized category names</a:t>
            </a:r>
          </a:p>
          <a:p>
            <a:pPr marL="625087" lvl="1" indent="-312544" algn="l">
              <a:lnSpc>
                <a:spcPts val="4632"/>
              </a:lnSpc>
              <a:buFont typeface="Arial"/>
              <a:buChar char="•"/>
            </a:pPr>
            <a:r>
              <a:rPr lang="en-US" sz="2895" spc="144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Converted date fields</a:t>
            </a:r>
          </a:p>
          <a:p>
            <a:pPr marL="625087" lvl="1" indent="-312544" algn="l">
              <a:lnSpc>
                <a:spcPts val="4632"/>
              </a:lnSpc>
              <a:buFont typeface="Arial"/>
              <a:buChar char="•"/>
            </a:pPr>
            <a:r>
              <a:rPr lang="en-US" sz="2895" spc="144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Created calculated measures (Revenue, KPIs)</a:t>
            </a:r>
          </a:p>
          <a:p>
            <a:pPr marL="0" lvl="0" indent="0" algn="l">
              <a:lnSpc>
                <a:spcPts val="4952"/>
              </a:lnSpc>
            </a:pPr>
            <a:endParaRPr lang="en-US" sz="2895" spc="144">
              <a:solidFill>
                <a:srgbClr val="2F0C1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958772" y="2515710"/>
            <a:ext cx="461511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49"/>
              </a:lnSpc>
            </a:pPr>
            <a:r>
              <a:rPr lang="en-US" sz="3499" spc="244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Outcome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74969" y="3447754"/>
            <a:ext cx="6311291" cy="2924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087" lvl="1" indent="-312544" algn="l">
              <a:lnSpc>
                <a:spcPts val="4632"/>
              </a:lnSpc>
              <a:buFont typeface="Arial"/>
              <a:buChar char="•"/>
            </a:pPr>
            <a:r>
              <a:rPr lang="en-US" sz="2895" spc="144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Clean and analysis-ready dataset</a:t>
            </a:r>
          </a:p>
          <a:p>
            <a:pPr marL="625087" lvl="1" indent="-312544" algn="l">
              <a:lnSpc>
                <a:spcPts val="4632"/>
              </a:lnSpc>
              <a:buFont typeface="Arial"/>
              <a:buChar char="•"/>
            </a:pPr>
            <a:r>
              <a:rPr lang="en-US" sz="2895" spc="144">
                <a:solidFill>
                  <a:srgbClr val="2F0C11"/>
                </a:solidFill>
                <a:latin typeface="Tenor Sans"/>
                <a:ea typeface="Tenor Sans"/>
                <a:cs typeface="Tenor Sans"/>
                <a:sym typeface="Tenor Sans"/>
              </a:rPr>
              <a:t>Improved data accuracy and consistency</a:t>
            </a:r>
          </a:p>
          <a:p>
            <a:pPr marL="0" lvl="0" indent="0" algn="l">
              <a:lnSpc>
                <a:spcPts val="4952"/>
              </a:lnSpc>
            </a:pPr>
            <a:endParaRPr lang="en-US" sz="2895" spc="144">
              <a:solidFill>
                <a:srgbClr val="2F0C11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5577" y="4754262"/>
            <a:ext cx="5181365" cy="6029225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443267" y="768204"/>
            <a:ext cx="5240994" cy="609861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48851" y="1867915"/>
            <a:ext cx="1147451" cy="1335216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2403" y="1696916"/>
            <a:ext cx="6010173" cy="7561384"/>
            <a:chOff x="0" y="0"/>
            <a:chExt cx="761359" cy="9578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1359" cy="957864"/>
            </a:xfrm>
            <a:custGeom>
              <a:avLst/>
              <a:gdLst/>
              <a:ahLst/>
              <a:cxnLst/>
              <a:rect l="l" t="t" r="r" b="b"/>
              <a:pathLst>
                <a:path w="761359" h="957864">
                  <a:moveTo>
                    <a:pt x="0" y="0"/>
                  </a:moveTo>
                  <a:lnTo>
                    <a:pt x="761359" y="0"/>
                  </a:lnTo>
                  <a:lnTo>
                    <a:pt x="761359" y="957864"/>
                  </a:lnTo>
                  <a:lnTo>
                    <a:pt x="0" y="957864"/>
                  </a:lnTo>
                  <a:close/>
                </a:path>
              </a:pathLst>
            </a:custGeom>
            <a:blipFill>
              <a:blip r:embed="rId2"/>
              <a:stretch>
                <a:fillRect l="-44529" r="-4452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75448" y="263374"/>
            <a:ext cx="17912552" cy="107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50"/>
              </a:lnSpc>
            </a:pPr>
            <a:r>
              <a:rPr lang="en-US" sz="7500" spc="525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CONCLUSIONS AND RECOMMENDATIONS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4605" y="1389381"/>
            <a:ext cx="9635738" cy="869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Conclusions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Automatic, mid-range SUVs drive the business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Strong regional and seasonal sales patterns exist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Brand and model performance varies significantly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Customer demographics strongly influence revenue</a:t>
            </a:r>
          </a:p>
          <a:p>
            <a:pPr algn="l">
              <a:lnSpc>
                <a:spcPts val="4640"/>
              </a:lnSpc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Recommendations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Focus inventory on high-demand segments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Expand operations in high-revenue regions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Introduce gender-focused marketing strategies</a:t>
            </a:r>
          </a:p>
          <a:p>
            <a:pPr marL="626111" lvl="1" indent="-313055" algn="l">
              <a:lnSpc>
                <a:spcPts val="4640"/>
              </a:lnSpc>
              <a:buFont typeface="Arial"/>
              <a:buChar char="•"/>
            </a:pPr>
            <a:r>
              <a:rPr lang="en-US" sz="2900" spc="145">
                <a:solidFill>
                  <a:srgbClr val="FFFFFF"/>
                </a:solidFill>
                <a:latin typeface="Tenor Sans"/>
                <a:ea typeface="Tenor Sans"/>
                <a:cs typeface="Tenor Sans"/>
                <a:sym typeface="Tenor Sans"/>
              </a:rPr>
              <a:t>Use seasonal insights for promotional planning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540744" y="7180293"/>
            <a:ext cx="2701740" cy="3143843"/>
            <a:chOff x="0" y="0"/>
            <a:chExt cx="6985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70880" y="8988920"/>
            <a:ext cx="1147451" cy="1335216"/>
            <a:chOff x="0" y="0"/>
            <a:chExt cx="6985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511291" y="980256"/>
            <a:ext cx="498672" cy="580273"/>
            <a:chOff x="0" y="0"/>
            <a:chExt cx="6985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6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6994" y="291170"/>
            <a:ext cx="8040826" cy="9356598"/>
            <a:chOff x="0" y="0"/>
            <a:chExt cx="6985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6D2932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60326" y="3893192"/>
            <a:ext cx="6951614" cy="8089151"/>
            <a:chOff x="0" y="0"/>
            <a:chExt cx="6985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E3C47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93337" y="995117"/>
            <a:ext cx="6951614" cy="8089151"/>
            <a:chOff x="0" y="0"/>
            <a:chExt cx="6985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44954" y="8613095"/>
            <a:ext cx="2464981" cy="2868342"/>
            <a:chOff x="0" y="0"/>
            <a:chExt cx="6985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37830" y="5947595"/>
            <a:ext cx="1782363" cy="2074023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93664" y="768204"/>
            <a:ext cx="502580" cy="584821"/>
            <a:chOff x="0" y="0"/>
            <a:chExt cx="6985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89096" y="3119461"/>
            <a:ext cx="502580" cy="584821"/>
            <a:chOff x="0" y="0"/>
            <a:chExt cx="6985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589567" y="8791859"/>
            <a:ext cx="502580" cy="584821"/>
            <a:chOff x="0" y="0"/>
            <a:chExt cx="6985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8266" y="2401900"/>
            <a:ext cx="502580" cy="584821"/>
            <a:chOff x="0" y="0"/>
            <a:chExt cx="6985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8E3C47">
                <a:alpha val="49804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520193" y="4224941"/>
            <a:ext cx="11401399" cy="1722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770"/>
              </a:lnSpc>
            </a:pPr>
            <a:r>
              <a:rPr lang="en-US" sz="11966" spc="837">
                <a:solidFill>
                  <a:srgbClr val="FFFFFF"/>
                </a:solidFill>
                <a:latin typeface="Active Heart"/>
                <a:ea typeface="Active Heart"/>
                <a:cs typeface="Active Heart"/>
                <a:sym typeface="Active Hear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602</Words>
  <Application>Microsoft Office PowerPoint</Application>
  <PresentationFormat>Custom</PresentationFormat>
  <Paragraphs>151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Inter</vt:lpstr>
      <vt:lpstr>Active Heart</vt:lpstr>
      <vt:lpstr>Inter Bold</vt:lpstr>
      <vt:lpstr>Tenor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Report Presentation</dc:title>
  <cp:lastModifiedBy>sam ebanezer</cp:lastModifiedBy>
  <cp:revision>2</cp:revision>
  <dcterms:created xsi:type="dcterms:W3CDTF">2006-08-16T00:00:00Z</dcterms:created>
  <dcterms:modified xsi:type="dcterms:W3CDTF">2026-01-05T07:53:44Z</dcterms:modified>
  <dc:identifier>DAG89SiROi0</dc:identifier>
</cp:coreProperties>
</file>